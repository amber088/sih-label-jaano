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Lead with the rule engine, not the model. The claim that wins marks: the regulation is versioned data and the engine has no clause-specific code. Be plain that field extraction is an LLM read.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If a judge asks what is actually verified: 2 of 79 checks have non-LLM evidence today (font height via OCR geometry). Say so, then point at the CV seam on the feasibility slide.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This slide is the pre-emptive strike. Naming the LLM dependency and the missing CV detector before a judge does is worth more than hiding them behind the word 'fusion'.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Keep invented numbers off this slide. The coverage argument is the honest impact claim: the bottleneck is inspector-hours, and this removes it.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Do not overstate the packs. The clause citations and font-height table are verbatim from the Rules; several regexes are engineered starting points, and each pack's source_note says so.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the five blanks from the SIH portal before exporting: Problem Statement ID, Problem Statement Title, Theme, Team ID, Team Name. Also set the 'Your Team Name' oval on slides 2-6.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29184" y="932688"/>
            <a:ext cx="6035040" cy="1005840"/>
          </a:xfrm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b="1" dirty="0" sz="3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LabelJaano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</a:pPr>
            <a:r>
              <a:rPr sz="1350" b="0" i="1">
                <a:solidFill>
                  <a:srgbClr val="4C4C4C"/>
                </a:solidFill>
                <a:latin typeface="Arial"/>
              </a:rPr>
              <a:t>Regulatory compliance for packaged-food labels, from a photograph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930384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700" b="1" i="0">
                <a:solidFill>
                  <a:srgbClr val="1A1A1A"/>
                </a:solidFill>
                <a:latin typeface="Arial"/>
              </a:rPr>
              <a:t>Problem Statement ID –</a:t>
            </a:r>
            <a:r>
              <a:rPr sz="1700" b="0" i="0">
                <a:solidFill>
                  <a:srgbClr val="1F3864"/>
                </a:solidFill>
                <a:latin typeface="Arial"/>
              </a:rPr>
              <a:t>  ____________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700" b="1" i="0">
                <a:solidFill>
                  <a:srgbClr val="1A1A1A"/>
                </a:solidFill>
                <a:latin typeface="Arial"/>
              </a:rPr>
              <a:t>Problem Statement Title-</a:t>
            </a:r>
            <a:r>
              <a:rPr sz="1700" b="0" i="0">
                <a:solidFill>
                  <a:srgbClr val="1F3864"/>
                </a:solidFill>
                <a:latin typeface="Arial"/>
              </a:rPr>
              <a:t>  ____________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700" b="1" i="0">
                <a:solidFill>
                  <a:srgbClr val="1A1A1A"/>
                </a:solidFill>
                <a:latin typeface="Arial"/>
              </a:rPr>
              <a:t>Theme-</a:t>
            </a:r>
            <a:r>
              <a:rPr sz="1700" b="0" i="0">
                <a:solidFill>
                  <a:srgbClr val="1F3864"/>
                </a:solidFill>
                <a:latin typeface="Arial"/>
              </a:rPr>
              <a:t>  ____________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700" b="1" i="0">
                <a:solidFill>
                  <a:srgbClr val="1A1A1A"/>
                </a:solidFill>
                <a:latin typeface="Arial"/>
              </a:rPr>
              <a:t>PS Category-</a:t>
            </a:r>
            <a:r>
              <a:rPr sz="1700" b="0" i="0">
                <a:solidFill>
                  <a:srgbClr val="1F3864"/>
                </a:solidFill>
                <a:latin typeface="Arial"/>
              </a:rPr>
              <a:t>  Software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700" b="1" i="0">
                <a:solidFill>
                  <a:srgbClr val="1A1A1A"/>
                </a:solidFill>
                <a:latin typeface="Arial"/>
              </a:rPr>
              <a:t>Team ID-</a:t>
            </a:r>
            <a:r>
              <a:rPr sz="1700" b="0" i="0">
                <a:solidFill>
                  <a:srgbClr val="1F3864"/>
                </a:solidFill>
                <a:latin typeface="Arial"/>
              </a:rPr>
              <a:t>  ____________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700" b="1" i="0">
                <a:solidFill>
                  <a:srgbClr val="1A1A1A"/>
                </a:solidFill>
                <a:latin typeface="Arial"/>
              </a:rPr>
              <a:t>Team Name (Registered on portal)-</a:t>
            </a:r>
            <a:r>
              <a:rPr sz="1700" b="0" i="0">
                <a:solidFill>
                  <a:srgbClr val="1F3864"/>
                </a:solidFill>
                <a:latin typeface="Arial"/>
              </a:rPr>
              <a:t>  ____________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365760" y="5138928"/>
            <a:ext cx="5577840" cy="20116"/>
          </a:xfrm>
          <a:prstGeom prst="rect">
            <a:avLst/>
          </a:prstGeom>
          <a:solidFill>
            <a:srgbClr val="B4D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5321808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950" b="1" i="0">
                <a:solidFill>
                  <a:srgbClr val="0070C0"/>
                </a:solidFill>
                <a:latin typeface="Arial"/>
              </a:rPr>
              <a:t>BUILT AND TESTED</a:t>
            </a:r>
          </a:p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100" b="0" i="0">
                <a:solidFill>
                  <a:srgbClr val="4C4C4C"/>
                </a:solidFill>
                <a:latin typeface="Arial"/>
              </a:rPr>
              <a:t>8 versioned rulepacks  ·  48 declarations  ·  79 machine-checked clauses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4C4C4C"/>
                </a:solidFill>
                <a:latin typeface="Arial"/>
              </a:rPr>
              <a:t>12 lab-only limits cited but never scored  ·  308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188720"/>
            <a:ext cx="11183112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700" b="1" i="0">
                <a:solidFill>
                  <a:srgbClr val="0070C0"/>
                </a:solidFill>
                <a:latin typeface="Arial"/>
              </a:rPr>
              <a:t>Proposed Solution (Describe your Idea/Solution/Prototype)</a:t>
            </a:r>
          </a:p>
          <a:p>
            <a:pPr algn="l">
              <a:lnSpc>
                <a:spcPct val="112000"/>
              </a:lnSpc>
            </a:pPr>
            <a:r>
              <a:rPr sz="1300" b="0" i="1">
                <a:solidFill>
                  <a:srgbClr val="4C4C4C"/>
                </a:solidFill>
                <a:latin typeface="Arial"/>
              </a:rPr>
              <a:t>LabelJaano turns a photograph of a packaged-food label into a clause-cited compliance verdict — the regulation itself lives as versioned data, not as code.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502920" y="2212848"/>
            <a:ext cx="3520440" cy="3136392"/>
          </a:xfrm>
          <a:prstGeom prst="roundRect">
            <a:avLst>
              <a:gd name="adj" fmla="val 3500"/>
            </a:avLst>
          </a:prstGeom>
          <a:solidFill>
            <a:srgbClr val="E9F2FB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4" name="TextBox 15363"/>
          <p:cNvSpPr txBox="1"/>
          <p:nvPr/>
        </p:nvSpPr>
        <p:spPr>
          <a:xfrm>
            <a:off x="722376" y="2395728"/>
            <a:ext cx="3081528" cy="2770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50" b="1" i="0">
                <a:solidFill>
                  <a:srgbClr val="0070C0"/>
                </a:solidFill>
                <a:latin typeface="Arial"/>
              </a:rPr>
              <a:t>Detailed explanation of the proposed solution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Photograph the label panels; a reference card or ArUco marker in frame fixes real-world scale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A vision-LLM extracts only the declarations the loaded rulepacks ask for — the prompt is generated from those packs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PaddleOCR glyph boxes plus the marker yield a true millimetre font height, measured independently of the LLM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A declarative rule engine scores each declaration and cites the clause behind every finding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288536" y="2212848"/>
            <a:ext cx="3520440" cy="3136392"/>
          </a:xfrm>
          <a:prstGeom prst="roundRect">
            <a:avLst>
              <a:gd name="adj" fmla="val 3500"/>
            </a:avLst>
          </a:prstGeom>
          <a:solidFill>
            <a:srgbClr val="E9F2FB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6" name="TextBox 15365"/>
          <p:cNvSpPr txBox="1"/>
          <p:nvPr/>
        </p:nvSpPr>
        <p:spPr>
          <a:xfrm>
            <a:off x="4507992" y="2395728"/>
            <a:ext cx="3081528" cy="2770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50" b="1" i="0">
                <a:solidFill>
                  <a:srgbClr val="0070C0"/>
                </a:solidFill>
                <a:latin typeface="Arial"/>
              </a:rPr>
              <a:t>How it addresses the problem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Enforcement today is manual and sample-based — one inspector, one packet at a time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Violations are small by nature: a missing veg mark, a net-quantity font a millimetre under the mandated height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Puts a gazette rule in the hands of a shopper in the aisle and an officer in the field, in seconds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Officer scan history and CSV export make findings reviewable rather than one-off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8074152" y="2212848"/>
            <a:ext cx="3520440" cy="3136392"/>
          </a:xfrm>
          <a:prstGeom prst="roundRect">
            <a:avLst>
              <a:gd name="adj" fmla="val 3500"/>
            </a:avLst>
          </a:prstGeom>
          <a:solidFill>
            <a:srgbClr val="E9F2FB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8" name="TextBox 15367"/>
          <p:cNvSpPr txBox="1"/>
          <p:nvPr/>
        </p:nvSpPr>
        <p:spPr>
          <a:xfrm>
            <a:off x="8293608" y="2395728"/>
            <a:ext cx="3081528" cy="2770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50" b="1" i="0">
                <a:solidFill>
                  <a:srgbClr val="0070C0"/>
                </a:solidFill>
                <a:latin typeface="Arial"/>
              </a:rPr>
              <a:t>Innovation and uniqueness of the solution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8 versioned JSON rulepacks → 48 declarations → 79 checks, with zero regulation-specific branches in the scoring path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A category pack overrides a base rule by reusing its id: scan as wine and the MRP “inclusive of all taxes” check disappears, per the Rule 6(1)(e) proviso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Two-tier design — lab-only limits are cited, never scored, so they structurally cannot move a verdict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1A1A1A"/>
                </a:solidFill>
                <a:latin typeface="Arial"/>
              </a:rPr>
              <a:t>Add a pack, POST /reload, new rules enforced with no code change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502920" y="5504688"/>
            <a:ext cx="11183112" cy="658368"/>
          </a:xfrm>
          <a:prstGeom prst="roundRect">
            <a:avLst>
              <a:gd name="adj" fmla="val 3500"/>
            </a:avLst>
          </a:prstGeom>
          <a:solidFill>
            <a:srgbClr val="E9F2FB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0" name="TextBox 15369"/>
          <p:cNvSpPr txBox="1"/>
          <p:nvPr/>
        </p:nvSpPr>
        <p:spPr>
          <a:xfrm>
            <a:off x="502920" y="5623559"/>
            <a:ext cx="3727704" cy="42062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700" b="1" i="0">
                <a:solidFill>
                  <a:srgbClr val="0070C0"/>
                </a:solidFill>
                <a:latin typeface="Arial"/>
              </a:rPr>
              <a:t>8 rulepacks</a:t>
            </a:r>
          </a:p>
          <a:p>
            <a:pPr algn="ctr">
              <a:lnSpc>
                <a:spcPct val="104000"/>
              </a:lnSpc>
            </a:pPr>
            <a:r>
              <a:rPr sz="1000" b="0" i="0">
                <a:solidFill>
                  <a:srgbClr val="4C4C4C"/>
                </a:solidFill>
                <a:latin typeface="Arial"/>
              </a:rPr>
              <a:t>FSSAI + Legal Metrology, each versioned JSON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4230624" y="5623559"/>
            <a:ext cx="3727704" cy="42062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700" b="1" i="0">
                <a:solidFill>
                  <a:srgbClr val="0070C0"/>
                </a:solidFill>
                <a:latin typeface="Arial"/>
              </a:rPr>
              <a:t>79 checks</a:t>
            </a:r>
          </a:p>
          <a:p>
            <a:pPr algn="ctr">
              <a:lnSpc>
                <a:spcPct val="104000"/>
              </a:lnSpc>
            </a:pPr>
            <a:r>
              <a:rPr sz="1000" b="0" i="0">
                <a:solidFill>
                  <a:srgbClr val="4C4C4C"/>
                </a:solidFill>
                <a:latin typeface="Arial"/>
              </a:rPr>
              <a:t>48 declarations, 6 check types, 7 validators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4230624" y="5650992"/>
            <a:ext cx="7315" cy="365759"/>
          </a:xfrm>
          <a:prstGeom prst="rect">
            <a:avLst/>
          </a:prstGeom>
          <a:solidFill>
            <a:srgbClr val="B4D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7958328" y="5623559"/>
            <a:ext cx="3727704" cy="42062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700" b="1" i="0">
                <a:solidFill>
                  <a:srgbClr val="0070C0"/>
                </a:solidFill>
                <a:latin typeface="Arial"/>
              </a:rPr>
              <a:t>308 tests</a:t>
            </a:r>
          </a:p>
          <a:p>
            <a:pPr algn="ctr">
              <a:lnSpc>
                <a:spcPct val="104000"/>
              </a:lnSpc>
            </a:pPr>
            <a:r>
              <a:rPr sz="1000" b="0" i="0">
                <a:solidFill>
                  <a:srgbClr val="4C4C4C"/>
                </a:solidFill>
                <a:latin typeface="Arial"/>
              </a:rPr>
              <a:t>full suite passing, CI on Python 3.11 and 3.12</a:t>
            </a:r>
          </a:p>
        </p:txBody>
      </p:sp>
      <p:sp>
        <p:nvSpPr>
          <p:cNvPr id="15374" name="Rectangle 15373"/>
          <p:cNvSpPr/>
          <p:nvPr/>
        </p:nvSpPr>
        <p:spPr>
          <a:xfrm>
            <a:off x="7958328" y="5650992"/>
            <a:ext cx="7315" cy="365759"/>
          </a:xfrm>
          <a:prstGeom prst="rect">
            <a:avLst/>
          </a:prstGeom>
          <a:solidFill>
            <a:srgbClr val="B4D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02920" y="1207008"/>
            <a:ext cx="4709160" cy="3611880"/>
          </a:xfrm>
          <a:prstGeom prst="roundRect">
            <a:avLst>
              <a:gd name="adj" fmla="val 3500"/>
            </a:avLst>
          </a:prstGeom>
          <a:solidFill>
            <a:srgbClr val="E9F2FB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22376" y="1371600"/>
            <a:ext cx="4270248" cy="3282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50" b="1" i="0">
                <a:solidFill>
                  <a:srgbClr val="0070C0"/>
                </a:solidFill>
                <a:latin typeface="Arial"/>
              </a:rPr>
              <a:t>Technologies to be used (e.g. programming languages, frameworks, hardware)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3864"/>
                </a:solidFill>
                <a:latin typeface="Arial"/>
              </a:rPr>
              <a:t>Backend —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Python 3.11 / 3.12, FastAPI, SQLite in WAL mode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3864"/>
                </a:solidFill>
                <a:latin typeface="Arial"/>
              </a:rPr>
              <a:t>Auth —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stdlib only — PBKDF2-HMAC-SHA256 at 600,000 iterations, purpose-scoped HS256 tokens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3864"/>
                </a:solidFill>
                <a:latin typeface="Arial"/>
              </a:rPr>
              <a:t>Vision —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Gemini vision API for field extraction from the label panels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3864"/>
                </a:solidFill>
                <a:latin typeface="Arial"/>
              </a:rPr>
              <a:t>OCR —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PaddleOCR for glyph bounding boxes and raw text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3864"/>
                </a:solidFill>
                <a:latin typeface="Arial"/>
              </a:rPr>
              <a:t>Calibration —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OpenCV ArUco / reference-card homography for a pixel-to-millimetre scale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3864"/>
                </a:solidFill>
                <a:latin typeface="Arial"/>
              </a:rPr>
              <a:t>Rules —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versioned JSON rulepacks — 6 check types, 7 validators, a 20-token condition vocabulary (18 used by the packs today)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3864"/>
                </a:solidFill>
                <a:latin typeface="Arial"/>
              </a:rPr>
              <a:t>Mobile —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Flutter client for capture and verdict display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50" b="1" i="0">
                <a:solidFill>
                  <a:srgbClr val="1F3864"/>
                </a:solidFill>
                <a:latin typeface="Arial"/>
              </a:rPr>
              <a:t>Ops — </a:t>
            </a:r>
            <a:r>
              <a:rPr sz="1050" b="0" i="0">
                <a:solidFill>
                  <a:srgbClr val="1A1A1A"/>
                </a:solidFill>
                <a:latin typeface="Arial"/>
              </a:rPr>
              <a:t>Docker as a non-root user, GitHub Actions CI, 308 tests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4983480"/>
            <a:ext cx="4709160" cy="1179576"/>
          </a:xfrm>
          <a:prstGeom prst="roundRect">
            <a:avLst>
              <a:gd name="adj" fmla="val 3500"/>
            </a:avLst>
          </a:prstGeom>
          <a:solidFill>
            <a:srgbClr val="FDF1E6"/>
          </a:solidFill>
          <a:ln w="9525">
            <a:solidFill>
              <a:srgbClr val="F2C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722376" y="5120640"/>
            <a:ext cx="4270248" cy="932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B4540E"/>
                </a:solidFill>
                <a:latin typeface="Arial"/>
              </a:rPr>
              <a:t>Prototype status</a:t>
            </a:r>
          </a:p>
          <a:p>
            <a:pPr algn="l" marL="155000" indent="-155000">
              <a:lnSpc>
                <a:spcPct val="105000"/>
              </a:lnSpc>
              <a:spcAft>
                <a:spcPts val="300"/>
              </a:spcAft>
              <a:buClr>
                <a:srgbClr val="B4540E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FastAPI service and Flutter client run end to end today</a:t>
            </a:r>
          </a:p>
          <a:p>
            <a:pPr algn="l" marL="155000" indent="-155000">
              <a:lnSpc>
                <a:spcPct val="105000"/>
              </a:lnSpc>
              <a:spcAft>
                <a:spcPts val="300"/>
              </a:spcAft>
              <a:buClr>
                <a:srgbClr val="B4540E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Ships as one non-root Docker image over a SQLite volume — no GPU required</a:t>
            </a:r>
          </a:p>
          <a:p>
            <a:pPr algn="l" marL="155000" indent="-155000">
              <a:lnSpc>
                <a:spcPct val="105000"/>
              </a:lnSpc>
              <a:spcAft>
                <a:spcPts val="300"/>
              </a:spcAft>
              <a:buClr>
                <a:srgbClr val="B4540E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Rulepacks hot-reload over POST /reload without a restart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468112" y="1207008"/>
            <a:ext cx="621792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070C0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468112" y="1901952"/>
            <a:ext cx="6217920" cy="786384"/>
          </a:xfrm>
          <a:prstGeom prst="roundRect">
            <a:avLst>
              <a:gd name="adj" fmla="val 3500"/>
            </a:avLst>
          </a:prstGeom>
          <a:solidFill>
            <a:srgbClr val="E9F2FB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Oval 17415"/>
          <p:cNvSpPr/>
          <p:nvPr/>
        </p:nvSpPr>
        <p:spPr>
          <a:xfrm>
            <a:off x="5650992" y="2084832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217920" y="2002536"/>
            <a:ext cx="5321808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Capture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4C4C4C"/>
                </a:solidFill>
                <a:latin typeface="Arial"/>
              </a:rPr>
              <a:t>Panels photographed with a reference card or ArUco marker in frame to fix the scale</a:t>
            </a:r>
          </a:p>
        </p:txBody>
      </p:sp>
      <p:sp>
        <p:nvSpPr>
          <p:cNvPr id="17418" name="Isosceles Triangle 17417"/>
          <p:cNvSpPr/>
          <p:nvPr/>
        </p:nvSpPr>
        <p:spPr>
          <a:xfrm rot="10800000">
            <a:off x="5751576" y="2724912"/>
            <a:ext cx="219456" cy="128016"/>
          </a:xfrm>
          <a:prstGeom prst="triangle">
            <a:avLst/>
          </a:prstGeom>
          <a:solidFill>
            <a:srgbClr val="B4D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5468112" y="2834640"/>
            <a:ext cx="6217920" cy="7863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Oval 17419"/>
          <p:cNvSpPr/>
          <p:nvPr/>
        </p:nvSpPr>
        <p:spPr>
          <a:xfrm>
            <a:off x="5650992" y="3017520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217920" y="2935224"/>
            <a:ext cx="5321808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Extract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4C4C4C"/>
                </a:solidFill>
                <a:latin typeface="Arial"/>
              </a:rPr>
              <a:t>Vision-LLM returns the declarations the loaded packs ask for; PaddleOCR returns glyphs and raw text</a:t>
            </a:r>
          </a:p>
        </p:txBody>
      </p:sp>
      <p:sp>
        <p:nvSpPr>
          <p:cNvPr id="17422" name="Isosceles Triangle 17421"/>
          <p:cNvSpPr/>
          <p:nvPr/>
        </p:nvSpPr>
        <p:spPr>
          <a:xfrm rot="10800000">
            <a:off x="5751576" y="3657600"/>
            <a:ext cx="219456" cy="128016"/>
          </a:xfrm>
          <a:prstGeom prst="triangle">
            <a:avLst/>
          </a:prstGeom>
          <a:solidFill>
            <a:srgbClr val="B4D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5468112" y="3767328"/>
            <a:ext cx="6217920" cy="786384"/>
          </a:xfrm>
          <a:prstGeom prst="roundRect">
            <a:avLst>
              <a:gd name="adj" fmla="val 3500"/>
            </a:avLst>
          </a:prstGeom>
          <a:solidFill>
            <a:srgbClr val="E9F2FB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Oval 17423"/>
          <p:cNvSpPr/>
          <p:nvPr/>
        </p:nvSpPr>
        <p:spPr>
          <a:xfrm>
            <a:off x="5650992" y="3950208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217920" y="3867912"/>
            <a:ext cx="5321808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Measure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4C4C4C"/>
                </a:solidFill>
                <a:latin typeface="Arial"/>
              </a:rPr>
              <a:t>Glyph boxes × the marker homography give a real millimetre height for the font-size rule</a:t>
            </a:r>
          </a:p>
        </p:txBody>
      </p:sp>
      <p:sp>
        <p:nvSpPr>
          <p:cNvPr id="17426" name="Isosceles Triangle 17425"/>
          <p:cNvSpPr/>
          <p:nvPr/>
        </p:nvSpPr>
        <p:spPr>
          <a:xfrm rot="10800000">
            <a:off x="5751576" y="4590288"/>
            <a:ext cx="219456" cy="128016"/>
          </a:xfrm>
          <a:prstGeom prst="triangle">
            <a:avLst/>
          </a:prstGeom>
          <a:solidFill>
            <a:srgbClr val="B4D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5468112" y="4700016"/>
            <a:ext cx="6217920" cy="7863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Oval 17427"/>
          <p:cNvSpPr/>
          <p:nvPr/>
        </p:nvSpPr>
        <p:spPr>
          <a:xfrm>
            <a:off x="5650992" y="4882896"/>
            <a:ext cx="420624" cy="42062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217920" y="4800600"/>
            <a:ext cx="5321808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Judge</a:t>
            </a:r>
          </a:p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4C4C4C"/>
                </a:solidFill>
                <a:latin typeface="Arial"/>
              </a:rPr>
              <a:t>Rule engine resolves conditions, scores each declaration and cites the clause behind every finding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468112" y="5705856"/>
            <a:ext cx="6217920" cy="457200"/>
          </a:xfrm>
          <a:prstGeom prst="roundRect">
            <a:avLst>
              <a:gd name="adj" fmla="val 3500"/>
            </a:avLst>
          </a:prstGeom>
          <a:solidFill>
            <a:srgbClr val="FDF1E6"/>
          </a:solidFill>
          <a:ln w="9525">
            <a:solidFill>
              <a:srgbClr val="F2C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5650992" y="5779008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1000" b="1" i="0">
                <a:solidFill>
                  <a:srgbClr val="B4540E"/>
                </a:solidFill>
                <a:latin typeface="Arial"/>
              </a:rPr>
              <a:t>Honest about the evidence:  </a:t>
            </a:r>
            <a:r>
              <a:rPr sz="1000" b="0" i="0">
                <a:solidFill>
                  <a:srgbClr val="1A1A1A"/>
                </a:solidFill>
                <a:latin typeface="Arial"/>
              </a:rPr>
              <a:t>field values come from the LLM read; font height is the one check measured independently, and it returns SKIP — never a guess — with no marker in frame.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88720"/>
            <a:ext cx="11183112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0070C0"/>
                </a:solidFill>
                <a:latin typeface="Arial"/>
              </a:rPr>
              <a:t>Analysis of the feasibility of the idea  —  we separate what a camera can prove from what only a laboratory can settle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02920" y="1591056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E9F2FB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722376" y="1728216"/>
            <a:ext cx="5001768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0070C0"/>
                </a:solidFill>
                <a:latin typeface="Arial"/>
              </a:rPr>
              <a:t>Scored from the photograph — feasible today</a:t>
            </a:r>
          </a:p>
          <a:p>
            <a:pPr algn="l" marL="155000" indent="-155000">
              <a:lnSpc>
                <a:spcPct val="105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Net quantity, unit and the MRP “inclusive of all taxes” wording</a:t>
            </a:r>
          </a:p>
          <a:p>
            <a:pPr algn="l" marL="155000" indent="-155000">
              <a:lnSpc>
                <a:spcPct val="105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FSSAI licence number and logo; veg / non-veg mark</a:t>
            </a:r>
          </a:p>
          <a:p>
            <a:pPr algn="l" marL="155000" indent="-155000">
              <a:lnSpc>
                <a:spcPct val="105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Date marking — manufacture, best before, use by</a:t>
            </a:r>
          </a:p>
          <a:p>
            <a:pPr algn="l" marL="155000" indent="-155000">
              <a:lnSpc>
                <a:spcPct val="105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Ingredients, additives, allergen declarations</a:t>
            </a:r>
          </a:p>
          <a:p>
            <a:pPr algn="l" marL="155000" indent="-155000">
              <a:lnSpc>
                <a:spcPct val="105000"/>
              </a:lnSpc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Font height in mm against Rule 7(2) Table-I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245352" y="1591056"/>
            <a:ext cx="5440680" cy="1572768"/>
          </a:xfrm>
          <a:prstGeom prst="roundRect">
            <a:avLst>
              <a:gd name="adj" fmla="val 3500"/>
            </a:avLst>
          </a:prstGeom>
          <a:solidFill>
            <a:srgbClr val="FDF1E6"/>
          </a:solidFill>
          <a:ln w="9525">
            <a:solidFill>
              <a:srgbClr val="F2C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6464808" y="1728216"/>
            <a:ext cx="5001768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1" i="0">
                <a:solidFill>
                  <a:srgbClr val="B4540E"/>
                </a:solidFill>
                <a:latin typeface="Arial"/>
              </a:rPr>
              <a:t>Cited, never scored — a laboratory decides</a:t>
            </a:r>
          </a:p>
          <a:p>
            <a:pPr algn="l" marL="155000" indent="-155000">
              <a:lnSpc>
                <a:spcPct val="105000"/>
              </a:lnSpc>
              <a:spcAft>
                <a:spcPts val="300"/>
              </a:spcAft>
              <a:buClr>
                <a:srgbClr val="B4540E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Heavy-metal and contaminant ceilings</a:t>
            </a:r>
          </a:p>
          <a:p>
            <a:pPr algn="l" marL="155000" indent="-155000">
              <a:lnSpc>
                <a:spcPct val="105000"/>
              </a:lnSpc>
              <a:spcAft>
                <a:spcPts val="300"/>
              </a:spcAft>
              <a:buClr>
                <a:srgbClr val="B4540E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Aflatoxin and mycotoxin limits</a:t>
            </a:r>
          </a:p>
          <a:p>
            <a:pPr algn="l" marL="155000" indent="-155000">
              <a:lnSpc>
                <a:spcPct val="105000"/>
              </a:lnSpc>
              <a:spcAft>
                <a:spcPts val="300"/>
              </a:spcAft>
              <a:buClr>
                <a:srgbClr val="B4540E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Alcohol-by-volume tolerance</a:t>
            </a:r>
          </a:p>
          <a:p>
            <a:pPr algn="l" marL="155000" indent="-155000">
              <a:lnSpc>
                <a:spcPct val="105000"/>
              </a:lnSpc>
              <a:spcAft>
                <a:spcPts val="300"/>
              </a:spcAft>
              <a:buClr>
                <a:srgbClr val="B4540E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Fortification micronutrient ranges</a:t>
            </a:r>
          </a:p>
          <a:p>
            <a:pPr algn="l" marL="155000" indent="-155000">
              <a:lnSpc>
                <a:spcPct val="105000"/>
              </a:lnSpc>
              <a:spcAft>
                <a:spcPts val="300"/>
              </a:spcAft>
              <a:buClr>
                <a:srgbClr val="B4540E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12 such limits ride a separate data path with 0 scored checks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02920" y="3310128"/>
            <a:ext cx="5440680" cy="2139696"/>
          </a:xfrm>
          <a:prstGeom prst="roundRect">
            <a:avLst>
              <a:gd name="adj" fmla="val 3500"/>
            </a:avLst>
          </a:prstGeom>
          <a:solidFill>
            <a:srgbClr val="E9F2FB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722376" y="3465576"/>
            <a:ext cx="5001768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0070C0"/>
                </a:solidFill>
                <a:latin typeface="Arial"/>
              </a:rPr>
              <a:t>Potential challenges and risks</a:t>
            </a:r>
          </a:p>
          <a:p>
            <a:pPr algn="l" marL="155000" indent="-155000">
              <a:lnSpc>
                <a:spcPct val="106000"/>
              </a:lnSpc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Extraction is a single vision-LLM call — a hallucinated field becomes a finding</a:t>
            </a:r>
          </a:p>
          <a:p>
            <a:pPr algn="l" marL="155000" indent="-155000">
              <a:lnSpc>
                <a:spcPct val="106000"/>
              </a:lnSpc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Veg mark and FSSAI logo are critical checks but rest on LLM self-report, with no computer-vision detector yet</a:t>
            </a:r>
          </a:p>
          <a:p>
            <a:pPr algn="l" marL="155000" indent="-155000">
              <a:lnSpc>
                <a:spcPct val="106000"/>
              </a:lnSpc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Some format checks are permissive regexes a lookalike string can satisfy</a:t>
            </a:r>
          </a:p>
          <a:p>
            <a:pPr algn="l" marL="155000" indent="-155000">
              <a:lnSpc>
                <a:spcPct val="106000"/>
              </a:lnSpc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No marker in frame means no font-height verdict</a:t>
            </a:r>
          </a:p>
          <a:p>
            <a:pPr algn="l" marL="155000" indent="-155000">
              <a:lnSpc>
                <a:spcPct val="106000"/>
              </a:lnSpc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Rulepacks go stale as the gazette is amended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245352" y="3310128"/>
            <a:ext cx="5440680" cy="2139696"/>
          </a:xfrm>
          <a:prstGeom prst="roundRect">
            <a:avLst>
              <a:gd name="adj" fmla="val 3500"/>
            </a:avLst>
          </a:prstGeom>
          <a:solidFill>
            <a:srgbClr val="E9F2FB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6464808" y="3465576"/>
            <a:ext cx="5001768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50" b="1" i="0">
                <a:solidFill>
                  <a:srgbClr val="0070C0"/>
                </a:solidFill>
                <a:latin typeface="Arial"/>
              </a:rPr>
              <a:t>Strategies for overcoming these challenges</a:t>
            </a:r>
          </a:p>
          <a:p>
            <a:pPr algn="l" marL="155000" indent="-155000">
              <a:lnSpc>
                <a:spcPct val="106000"/>
              </a:lnSpc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Cross-check the OCR text against the LLM read and surface disagreement instead of merging the two</a:t>
            </a:r>
          </a:p>
          <a:p>
            <a:pPr algn="l" marL="155000" indent="-155000">
              <a:lnSpc>
                <a:spcPct val="106000"/>
              </a:lnSpc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Drop a CV detector in behind the existing check-type registry — the seam is already there, no engine change</a:t>
            </a:r>
          </a:p>
          <a:p>
            <a:pPr algn="l" marL="155000" indent="-155000">
              <a:lnSpc>
                <a:spcPct val="106000"/>
              </a:lnSpc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Tighten regexes with word boundaries and keyword context; add an adversarial negative-match test suite</a:t>
            </a:r>
          </a:p>
          <a:p>
            <a:pPr algn="l" marL="155000" indent="-155000">
              <a:lnSpc>
                <a:spcPct val="106000"/>
              </a:lnSpc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Return SKIP, never a score, wherever evidence is missing — already the rule for font height</a:t>
            </a:r>
          </a:p>
          <a:p>
            <a:pPr algn="l" marL="155000" indent="-155000">
              <a:lnSpc>
                <a:spcPct val="106000"/>
              </a:lnSpc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Packs are versioned JSON, so a gazette diff is a data review, not a release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02920" y="5596128"/>
            <a:ext cx="11183112" cy="566928"/>
          </a:xfrm>
          <a:prstGeom prst="roundRect">
            <a:avLst>
              <a:gd name="adj" fmla="val 3500"/>
            </a:avLst>
          </a:prstGeom>
          <a:solidFill>
            <a:srgbClr val="FDF1E6"/>
          </a:solidFill>
          <a:ln w="9525">
            <a:solidFill>
              <a:srgbClr val="F2C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722376" y="5678424"/>
            <a:ext cx="1074420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1000" b="1" i="0">
                <a:solidFill>
                  <a:srgbClr val="B4540E"/>
                </a:solidFill>
                <a:latin typeface="Arial"/>
              </a:rPr>
              <a:t>Viability — </a:t>
            </a:r>
            <a:r>
              <a:rPr sz="1000" b="0" i="0">
                <a:solidFill>
                  <a:srgbClr val="1A1A1A"/>
                </a:solidFill>
                <a:latin typeface="Arial"/>
              </a:rPr>
              <a:t>one container plus a SQLite file; no GPU and no per-seat licence. Anonymous scanning needs no account, officer features sit behind purpose-scoped tokens, and the suite runs in CI on Python 3.11 and 3.12.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02920" y="1207008"/>
            <a:ext cx="5440680" cy="3520440"/>
          </a:xfrm>
          <a:prstGeom prst="roundRect">
            <a:avLst>
              <a:gd name="adj" fmla="val 3500"/>
            </a:avLst>
          </a:prstGeom>
          <a:solidFill>
            <a:srgbClr val="E9F2FB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22376" y="1371600"/>
            <a:ext cx="5001768" cy="310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0070C0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2" name="Oval 17411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399032" y="1837943"/>
            <a:ext cx="432511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Consumers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C4C4C"/>
                </a:solidFill>
                <a:latin typeface="Arial"/>
              </a:rPr>
              <a:t>Apply a rule they cannot read — allergens, veg status, net quantity, MRP — while standing in the aisle, in seconds.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777240" y="283464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O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399032" y="2843784"/>
            <a:ext cx="432511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Legal Metrology &amp; FSSAI officers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C4C4C"/>
                </a:solidFill>
                <a:latin typeface="Arial"/>
              </a:rPr>
              <a:t>Screen many packets in the time one manual inspection takes; every scan is stored with its clause citations and exports to CSV.</a:t>
            </a:r>
          </a:p>
        </p:txBody>
      </p:sp>
      <p:sp>
        <p:nvSpPr>
          <p:cNvPr id="17416" name="Oval 17415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399032" y="3849624"/>
            <a:ext cx="4325112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Arial"/>
              </a:rPr>
              <a:t>Brands and packaging teams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4C4C4C"/>
                </a:solidFill>
                <a:latin typeface="Arial"/>
              </a:rPr>
              <a:t>Catch a font-height or declaration defect at artwork stage, before a print run and before a seizure.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245352" y="1207008"/>
            <a:ext cx="5440680" cy="3520440"/>
          </a:xfrm>
          <a:prstGeom prst="roundRect">
            <a:avLst>
              <a:gd name="adj" fmla="val 3500"/>
            </a:avLst>
          </a:prstGeom>
          <a:solidFill>
            <a:srgbClr val="E9F2FB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6464808" y="1371600"/>
            <a:ext cx="5001768" cy="3191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50" b="1" i="0">
                <a:solidFill>
                  <a:srgbClr val="0070C0"/>
                </a:solidFill>
                <a:latin typeface="Arial"/>
              </a:rPr>
              <a:t>Benefits of the solution (social, economic, environmental, etc.)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00" b="1" i="0">
                <a:solidFill>
                  <a:srgbClr val="1F3864"/>
                </a:solidFill>
                <a:latin typeface="Arial"/>
              </a:rPr>
              <a:t>Social — </a:t>
            </a:r>
            <a:r>
              <a:rPr sz="1000" b="0" i="0">
                <a:solidFill>
                  <a:srgbClr val="1A1A1A"/>
                </a:solidFill>
                <a:latin typeface="Arial"/>
              </a:rPr>
              <a:t>Allergen and veg / non-veg declarations become verifiable rather than trusted — the checks that matter most to the people least able to audit them.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00" b="1" i="0">
                <a:solidFill>
                  <a:srgbClr val="1F3864"/>
                </a:solidFill>
                <a:latin typeface="Arial"/>
              </a:rPr>
              <a:t>Economic — </a:t>
            </a:r>
            <a:r>
              <a:rPr sz="1000" b="0" i="0">
                <a:solidFill>
                  <a:srgbClr val="1A1A1A"/>
                </a:solidFill>
                <a:latin typeface="Arial"/>
              </a:rPr>
              <a:t>A recall, a seizure or a reprint costs far more than a pre-print check. Compliance moves from after the fact to before the press run.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00" b="1" i="0">
                <a:solidFill>
                  <a:srgbClr val="1F3864"/>
                </a:solidFill>
                <a:latin typeface="Arial"/>
              </a:rPr>
              <a:t>Environmental — </a:t>
            </a:r>
            <a:r>
              <a:rPr sz="1000" b="0" i="0">
                <a:solidFill>
                  <a:srgbClr val="1A1A1A"/>
                </a:solidFill>
                <a:latin typeface="Arial"/>
              </a:rPr>
              <a:t>Fewer scrapped packaging runs and fewer reprints, because the defect is caught in artwork rather than on the shelf.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00" b="1" i="0">
                <a:solidFill>
                  <a:srgbClr val="1F3864"/>
                </a:solidFill>
                <a:latin typeface="Arial"/>
              </a:rPr>
              <a:t>Governance — </a:t>
            </a:r>
            <a:r>
              <a:rPr sz="1000" b="0" i="0">
                <a:solidFill>
                  <a:srgbClr val="1A1A1A"/>
                </a:solidFill>
                <a:latin typeface="Arial"/>
              </a:rPr>
              <a:t>Every finding names the clause it came from, so a verdict can be contested on the record instead of argued from opinion.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00" b="1" i="0">
                <a:solidFill>
                  <a:srgbClr val="1F3864"/>
                </a:solidFill>
                <a:latin typeface="Arial"/>
              </a:rPr>
              <a:t>Scale — </a:t>
            </a:r>
            <a:r>
              <a:rPr sz="1000" b="0" i="0">
                <a:solidFill>
                  <a:srgbClr val="1A1A1A"/>
                </a:solidFill>
                <a:latin typeface="Arial"/>
              </a:rPr>
              <a:t>Enforcement coverage stops being limited by the number of inspectors available to read packets by eye.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1000" b="1" i="0">
                <a:solidFill>
                  <a:srgbClr val="1F3864"/>
                </a:solidFill>
                <a:latin typeface="Arial"/>
              </a:rPr>
              <a:t>Deterrence — </a:t>
            </a:r>
            <a:r>
              <a:rPr sz="1000" b="0" i="0">
                <a:solidFill>
                  <a:srgbClr val="1A1A1A"/>
                </a:solidFill>
                <a:latin typeface="Arial"/>
              </a:rPr>
              <a:t>A violation anyone can find in seconds is a violation worth not committing — the expectation shifts before the first penalty is issued.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02920" y="4910328"/>
            <a:ext cx="11183112" cy="1252728"/>
          </a:xfrm>
          <a:prstGeom prst="roundRect">
            <a:avLst>
              <a:gd name="adj" fmla="val 3500"/>
            </a:avLst>
          </a:prstGeom>
          <a:solidFill>
            <a:srgbClr val="E9F2FB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502920" y="5029200"/>
            <a:ext cx="3727704" cy="10149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700" b="1" i="0">
                <a:solidFill>
                  <a:srgbClr val="0070C0"/>
                </a:solidFill>
                <a:latin typeface="Arial"/>
              </a:rPr>
              <a:t>79 checks per scan</a:t>
            </a:r>
          </a:p>
          <a:p>
            <a:pPr algn="ctr">
              <a:lnSpc>
                <a:spcPct val="104000"/>
              </a:lnSpc>
            </a:pPr>
            <a:r>
              <a:rPr sz="1000" b="0" i="0">
                <a:solidFill>
                  <a:srgbClr val="4C4C4C"/>
                </a:solidFill>
                <a:latin typeface="Arial"/>
              </a:rPr>
              <a:t>every one carrying the clause it came from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230624" y="5029200"/>
            <a:ext cx="3727704" cy="10149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700" b="1" i="0">
                <a:solidFill>
                  <a:srgbClr val="0070C0"/>
                </a:solidFill>
                <a:latin typeface="Arial"/>
              </a:rPr>
              <a:t>12 lab-only limits</a:t>
            </a:r>
          </a:p>
          <a:p>
            <a:pPr algn="ctr">
              <a:lnSpc>
                <a:spcPct val="104000"/>
              </a:lnSpc>
            </a:pPr>
            <a:r>
              <a:rPr sz="1000" b="0" i="0">
                <a:solidFill>
                  <a:srgbClr val="4C4C4C"/>
                </a:solidFill>
                <a:latin typeface="Arial"/>
              </a:rPr>
              <a:t>cited for context, structurally never scored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4230624" y="5056632"/>
            <a:ext cx="7315" cy="960120"/>
          </a:xfrm>
          <a:prstGeom prst="rect">
            <a:avLst/>
          </a:prstGeom>
          <a:solidFill>
            <a:srgbClr val="B4D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7958328" y="5029200"/>
            <a:ext cx="3727704" cy="10149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700" b="1" i="0">
                <a:solidFill>
                  <a:srgbClr val="0070C0"/>
                </a:solidFill>
                <a:latin typeface="Arial"/>
              </a:rPr>
              <a:t>0 accounts needed</a:t>
            </a:r>
          </a:p>
          <a:p>
            <a:pPr algn="ctr">
              <a:lnSpc>
                <a:spcPct val="104000"/>
              </a:lnSpc>
            </a:pPr>
            <a:r>
              <a:rPr sz="1000" b="0" i="0">
                <a:solidFill>
                  <a:srgbClr val="4C4C4C"/>
                </a:solidFill>
                <a:latin typeface="Arial"/>
              </a:rPr>
              <a:t>anonymous scanning; officer tools behind tokens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7958328" y="5056632"/>
            <a:ext cx="7315" cy="960120"/>
          </a:xfrm>
          <a:prstGeom prst="rect">
            <a:avLst/>
          </a:prstGeom>
          <a:solidFill>
            <a:srgbClr val="B4D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88720"/>
            <a:ext cx="11183112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0070C0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02920" y="1609344"/>
            <a:ext cx="5989320" cy="3639312"/>
          </a:xfrm>
          <a:prstGeom prst="roundRect">
            <a:avLst>
              <a:gd name="adj" fmla="val 3500"/>
            </a:avLst>
          </a:prstGeom>
          <a:solidFill>
            <a:srgbClr val="E9F2FB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722376" y="1755648"/>
            <a:ext cx="5550408" cy="3346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 i="0">
                <a:solidFill>
                  <a:srgbClr val="0070C0"/>
                </a:solidFill>
                <a:latin typeface="Arial"/>
              </a:rPr>
              <a:t>Statutory sources — each encoded as a versioned rulepack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>
                <a:solidFill>
                  <a:srgbClr val="1F3864"/>
                </a:solidFill>
                <a:latin typeface="Arial"/>
              </a:rPr>
              <a:t>Legal Metrology (Packaged Commodities) Rules, 2011 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Rule 6 declarations, the Rule 6(1)(e) alcohol proviso and the Rule 7(2) Table-I font heights, as amended by G.S.R. 629(E) — legalmetrology.gov.in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>
                <a:solidFill>
                  <a:srgbClr val="1F3864"/>
                </a:solidFill>
                <a:latin typeface="Arial"/>
              </a:rPr>
              <a:t>FSS (Labelling and Display) Regulations, 2020 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mandatory particulars and display requirements — fssai.gov.in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>
                <a:solidFill>
                  <a:srgbClr val="1F3864"/>
                </a:solidFill>
                <a:latin typeface="Arial"/>
              </a:rPr>
              <a:t>FSS (Packaging and Labelling) Regulations, 2011 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product-specific declarations gated on traits such as added colour or caffeine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>
                <a:solidFill>
                  <a:srgbClr val="1F3864"/>
                </a:solidFill>
                <a:latin typeface="Arial"/>
              </a:rPr>
              <a:t>FSS (Contaminants, Toxins and Residues) Regulations, 2011 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the reference-only tier: 5 limits, 0 scored declarations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>
                <a:solidFill>
                  <a:srgbClr val="1F3864"/>
                </a:solidFill>
                <a:latin typeface="Arial"/>
              </a:rPr>
              <a:t>FSS (Alcoholic Beverages Standards) Regulations, 2018 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Part-5 labelling provisions, including the ABV tolerance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>
                <a:solidFill>
                  <a:srgbClr val="1F3864"/>
                </a:solidFill>
                <a:latin typeface="Arial"/>
              </a:rPr>
              <a:t>FSS (Fortification of Foods) Regulations, 2018  ·  FSS (Organic Foods) Regulations, 2017  ·  FSS (Health Supplements, Nutraceuticals …) Regulations, 2016 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trait-gated packs, applied only when the label makes the claim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>
                <a:solidFill>
                  <a:srgbClr val="1F3864"/>
                </a:solidFill>
                <a:latin typeface="Arial"/>
              </a:rPr>
              <a:t>FSSAI Food Safety Compliance System (FoSCoS) 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the 14-digit licence number format — foscos.fssai.gov.in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748272" y="1609344"/>
            <a:ext cx="4937760" cy="3639312"/>
          </a:xfrm>
          <a:prstGeom prst="roundRect">
            <a:avLst>
              <a:gd name="adj" fmla="val 3500"/>
            </a:avLst>
          </a:prstGeom>
          <a:solidFill>
            <a:srgbClr val="FDF1E6"/>
          </a:solidFill>
          <a:ln w="9525">
            <a:solidFill>
              <a:srgbClr val="F2C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6967728" y="1755648"/>
            <a:ext cx="4498848" cy="33467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150" b="1" i="0">
                <a:solidFill>
                  <a:srgbClr val="B4540E"/>
                </a:solidFill>
                <a:latin typeface="Arial"/>
              </a:rPr>
              <a:t>Technical and comparative references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B4540E"/>
              </a:buClr>
              <a:buFont typeface="Arial"/>
              <a:buChar char="•"/>
            </a:pPr>
            <a:r>
              <a:rPr sz="950" b="1" i="0">
                <a:solidFill>
                  <a:srgbClr val="B4540E"/>
                </a:solidFill>
                <a:latin typeface="Arial"/>
              </a:rPr>
              <a:t>PaddleOCR 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text detection and glyph bounding boxes — github.com/PaddlePaddle/PaddleOCR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B4540E"/>
              </a:buClr>
              <a:buFont typeface="Arial"/>
              <a:buChar char="•"/>
            </a:pPr>
            <a:r>
              <a:rPr sz="950" b="1" i="0">
                <a:solidFill>
                  <a:srgbClr val="B4540E"/>
                </a:solidFill>
                <a:latin typeface="Arial"/>
              </a:rPr>
              <a:t>OpenCV ArUco 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fiducial marker detection and homography for metric calibration — docs.opencv.org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B4540E"/>
              </a:buClr>
              <a:buFont typeface="Arial"/>
              <a:buChar char="•"/>
            </a:pPr>
            <a:r>
              <a:rPr sz="950" b="1" i="0">
                <a:solidFill>
                  <a:srgbClr val="B4540E"/>
                </a:solidFill>
                <a:latin typeface="Arial"/>
              </a:rPr>
              <a:t>Google Gemini vision API 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structured field extraction from label photographs — ai.google.dev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B4540E"/>
              </a:buClr>
              <a:buFont typeface="Arial"/>
              <a:buChar char="•"/>
            </a:pPr>
            <a:r>
              <a:rPr sz="950" b="1" i="0">
                <a:solidFill>
                  <a:srgbClr val="B4540E"/>
                </a:solidFill>
                <a:latin typeface="Arial"/>
              </a:rPr>
              <a:t>FastAPI 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the service layer — fastapi.tiangolo.com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B4540E"/>
              </a:buClr>
              <a:buFont typeface="Arial"/>
              <a:buChar char="•"/>
            </a:pPr>
            <a:r>
              <a:rPr sz="950" b="1" i="0">
                <a:solidFill>
                  <a:srgbClr val="B4540E"/>
                </a:solidFill>
                <a:latin typeface="Arial"/>
              </a:rPr>
              <a:t>Codex Alimentarius STAN 1-1985 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General Standard for the Labelling of Prepackaged Foods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B4540E"/>
              </a:buClr>
              <a:buFont typeface="Arial"/>
              <a:buChar char="•"/>
            </a:pPr>
            <a:r>
              <a:rPr sz="950" b="1" i="0">
                <a:solidFill>
                  <a:srgbClr val="B4540E"/>
                </a:solidFill>
                <a:latin typeface="Arial"/>
              </a:rPr>
              <a:t>EU Regulation 1169/2011, Article 13 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the 1.2 mm x-height minimum — the international analogue of Rule 7(2)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B4540E"/>
              </a:buClr>
              <a:buFont typeface="Arial"/>
              <a:buChar char="•"/>
            </a:pPr>
            <a:r>
              <a:rPr sz="950" b="1" i="0">
                <a:solidFill>
                  <a:srgbClr val="B4540E"/>
                </a:solidFill>
                <a:latin typeface="Arial"/>
              </a:rPr>
              <a:t>NIST SP 800-63B  ·  RFC 8018 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memorised-secret storage and PBKDF2 — the basis for 600,000 iterations</a:t>
            </a:r>
          </a:p>
          <a:p>
            <a:pPr algn="l" marL="155000" indent="-155000">
              <a:lnSpc>
                <a:spcPct val="108000"/>
              </a:lnSpc>
              <a:spcAft>
                <a:spcPts val="600"/>
              </a:spcAft>
              <a:buClr>
                <a:srgbClr val="B4540E"/>
              </a:buClr>
              <a:buFont typeface="Arial"/>
              <a:buChar char="•"/>
            </a:pPr>
            <a:r>
              <a:rPr sz="950" b="1" i="0">
                <a:solidFill>
                  <a:srgbClr val="B4540E"/>
                </a:solidFill>
                <a:latin typeface="Arial"/>
              </a:rPr>
              <a:t>RFC 7519  ·  RFC 8725 — </a:t>
            </a:r>
            <a:r>
              <a:rPr sz="950" b="0" i="0">
                <a:solidFill>
                  <a:srgbClr val="1A1A1A"/>
                </a:solidFill>
                <a:latin typeface="Arial"/>
              </a:rPr>
              <a:t>JWT and JWT best current practice — why the algorithm is pinned and expiry is mandatory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02920" y="5431536"/>
            <a:ext cx="11183112" cy="676656"/>
          </a:xfrm>
          <a:prstGeom prst="roundRect">
            <a:avLst>
              <a:gd name="adj" fmla="val 3500"/>
            </a:avLst>
          </a:prstGeom>
          <a:solidFill>
            <a:srgbClr val="E9F2FB"/>
          </a:solidFill>
          <a:ln w="9525">
            <a:solidFill>
              <a:srgbClr val="B4D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722376" y="5513832"/>
            <a:ext cx="1074420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1000" b="1" i="0">
                <a:solidFill>
                  <a:srgbClr val="0070C0"/>
                </a:solidFill>
                <a:latin typeface="Arial"/>
              </a:rPr>
              <a:t>Note on the packs — </a:t>
            </a:r>
            <a:r>
              <a:rPr sz="1000" b="0" i="0">
                <a:solidFill>
                  <a:srgbClr val="1A1A1A"/>
                </a:solidFill>
                <a:latin typeface="Arial"/>
              </a:rPr>
              <a:t>each pack carries a source_note recording which values are verbatim from the Rules and which regexes are engineered starting points. The packs are an enforcement aid, not a legal opinion.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